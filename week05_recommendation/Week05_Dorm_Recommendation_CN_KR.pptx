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课程第 5 周主题：推荐与个性化。此稿以正式项目目前可核对资料为基础，待实现和真实运行后更新结果与视频。课程页：https://app.notion.com/p/Recommendation-Personalization-3cf7c00fe5ad81e796c0eccba8e30bfa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既有项目功能见正式仓库 week03_dorm_assistant/README.md；第 5 周真实浏览器截图见 week05_recommendation/evidence/A_standard_ko.png。输入为合成情境 A，不是真实用户或学校实际安排。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数字依据：正式仓库 week03_dorm_assistant/README.md；数据结构与适用范围：week03_dorm_assistant/data/knowledge.json。实际排序见 core.py recommend(): 当前入住阶段优先，confirm/invalid_date、missing、unknown 依次排序，之后 required 优先，原始顺序作稳定并列规则，取前 3。推荐不改变用户自报状态，也不判定入住资格。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实际程序：week03_dorm_assistant/core.py check() 与 recommend()，已按当前实现校对。第 5 周课程要求绘制用户与情境、候选、数据、筛选排序、输出、行动及回退流程。课程页：https://app.notion.com/p/Recommendation-Personalization-3cf7c00fe5ad81e796c0eccba8e30bfa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2026-10-08 由正式项目 core.check() 使用合成输入运行。A: standard，move_in=2026-11-01，DOC_TB/DOC_ADDRESS ready 且出具日 2026-09-30，其他可标记项 ready，SUPPLY_BEDDING/SUPPLY_LAUNDRY missing，SUPPLY_NETWORK unknown，推荐 BEDDING/LAUNDRY/NETWORK。B: international，同日期、两材料自报 ready，其余 ready，NOTICE_REVIEW missing，推荐 DOC_TB confirm、DOC_ADDRESS confirm、NOTICE_REVIEW missing。两材料需向生活馆/国际事务部门核实，不自动断言替代物。韩语界面仅改变语言，不改变推荐顺序。无候选 C: standard all-ready 且日期有效，recommendations=[]，提示入住前复核最新公告。结果为规则程序确定性输出，非 Qwen、非真实用户。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本页最终版嵌入 week05_recommendation/evidence/Week05_Demo.mp4，展示合成情境 A、B、C 与语言切换。运行入口来自 week03_dorm_assistant/README.md；实际推荐证据见 week05_recommendation/evidence/。视频为开发者操作录屏，不是真实用户测试。第 5 周课程要求视频嵌入 PPT，并在作业卡分别上传 PPT 文件与视频文件。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B9BAF93-02D7-44C9-B320-20AFB36C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2727240-3A30-4152-8578-E0DCFD42E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621B1C1-554D-42A2-8018-9E1377316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01A7E88-A670-4087-AEFA-785F80F62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6184067-D84D-4E42-9C05-F3860A2DB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1ADD965-2E96-4626-AD02-31F25F715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F8B627C-E3DD-4478-B1A8-3740D0DB1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99AA633-395D-4F92-954D-33DD28467A9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6CF25A7-3F0E-44B3-B1B9-2061D678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E93B9F4-5740-47CC-93AC-50EE162ED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zh">
            <a:extLst>
              <a:ext uri="{FF2B5EF4-FFF2-40B4-BE49-F238E27FC236}">
                <a16:creationId xmlns:a16="http://schemas.microsoft.com/office/drawing/2014/main" id="{24B7690A-95DE-4762-85C5-1ECB03B2BC3C}"/>
              </a:ext>
            </a:extLst>
          </p:cNvPr>
          <p:cNvSpPr>
            <a:spLocks noGrp="1"/>
          </p:cNvSpPr>
          <p:nvPr/>
        </p:nvSpPr>
        <p:spPr>
          <a:xfrm>
            <a:off x="685800" y="1095375"/>
            <a:ext cx="10287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入住有数</a:t>
            </a:r>
          </a:p>
        </p:txBody>
      </p:sp>
      <p:sp>
        <p:nvSpPr>
          <p:cNvPr id="2" name="cover-ko">
            <a:extLst>
              <a:ext uri="{FF2B5EF4-FFF2-40B4-BE49-F238E27FC236}">
                <a16:creationId xmlns:a16="http://schemas.microsoft.com/office/drawing/2014/main" id="{AC4C3A36-CBE4-43F3-8A78-C74D89E9DDB5}"/>
              </a:ext>
            </a:extLst>
          </p:cNvPr>
          <p:cNvSpPr>
            <a:spLocks noGrp="1"/>
          </p:cNvSpPr>
          <p:nvPr/>
        </p:nvSpPr>
        <p:spPr>
          <a:xfrm>
            <a:off x="714375" y="2209800"/>
            <a:ext cx="10382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0">
                <a:solidFill>
                  <a:srgbClr val="DAECE1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850" b="0">
                <a:solidFill>
                  <a:srgbClr val="DAECE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DAECE1"/>
                </a:solidFill>
                <a:latin typeface="Malgun Gothic"/>
                <a:ea typeface="Malgun Gothic"/>
                <a:cs typeface="Malgun Gothic"/>
              </a:rPr>
              <a:t>기숙사 입사 준비 안내</a:t>
            </a:r>
          </a:p>
        </p:txBody>
      </p:sp>
      <p:sp>
        <p:nvSpPr>
          <p:cNvPr id="3" name="cover-week-zh">
            <a:extLst>
              <a:ext uri="{FF2B5EF4-FFF2-40B4-BE49-F238E27FC236}">
                <a16:creationId xmlns:a16="http://schemas.microsoft.com/office/drawing/2014/main" id="{1CFEA644-DB34-499E-9ACB-A01BBB2664B0}"/>
              </a:ext>
            </a:extLst>
          </p:cNvPr>
          <p:cNvSpPr>
            <a:spLocks noGrp="1"/>
          </p:cNvSpPr>
          <p:nvPr/>
        </p:nvSpPr>
        <p:spPr>
          <a:xfrm>
            <a:off x="704850" y="3876675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5 周：推荐与个性化</a:t>
            </a:r>
          </a:p>
        </p:txBody>
      </p:sp>
      <p:sp>
        <p:nvSpPr>
          <p:cNvPr id="4" name="cover-week-ko">
            <a:extLst>
              <a:ext uri="{FF2B5EF4-FFF2-40B4-BE49-F238E27FC236}">
                <a16:creationId xmlns:a16="http://schemas.microsoft.com/office/drawing/2014/main" id="{59DBD54C-54AB-4601-8E30-79A33D9A71DC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10096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DAECE1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025" b="0">
                <a:solidFill>
                  <a:srgbClr val="DAECE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AECE1"/>
                </a:solidFill>
                <a:latin typeface="Malgun Gothic"/>
                <a:ea typeface="Malgun Gothic"/>
                <a:cs typeface="Malgun Gothic"/>
              </a:rPr>
              <a:t>5주차: 추천과 개인화</a:t>
            </a:r>
          </a:p>
        </p:txBody>
      </p:sp>
      <p:sp>
        <p:nvSpPr>
          <p:cNvPr id="5" name="cover-author">
            <a:extLst>
              <a:ext uri="{FF2B5EF4-FFF2-40B4-BE49-F238E27FC236}">
                <a16:creationId xmlns:a16="http://schemas.microsoft.com/office/drawing/2014/main" id="{FC216D9E-DEA6-4240-B301-B9E29B4008B8}"/>
              </a:ext>
            </a:extLst>
          </p:cNvPr>
          <p:cNvSpPr>
            <a:spLocks noGrp="1"/>
          </p:cNvSpPr>
          <p:nvPr/>
        </p:nvSpPr>
        <p:spPr>
          <a:xfrm>
            <a:off x="723900" y="600075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BDCEC3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350" b="0">
                <a:solidFill>
                  <a:srgbClr val="BDCEC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DCEC3"/>
                </a:solidFill>
                <a:latin typeface="Malgun Gothic"/>
                <a:ea typeface="Malgun Gothic"/>
                <a:cs typeface="Malgun Gothic"/>
              </a:rPr>
              <a:t>WANGHAOBIN   2026-10-08</a:t>
            </a:r>
          </a:p>
        </p:txBody>
      </p:sp>
    </p:spTree>
    <p:extLst>
      <p:ext uri="{BB962C8B-B14F-4D97-AF65-F5344CB8AC3E}">
        <p14:creationId xmlns:p14="http://schemas.microsoft.com/office/powerpoint/2010/main" val="762232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-zh-2">
            <a:extLst>
              <a:ext uri="{FF2B5EF4-FFF2-40B4-BE49-F238E27FC236}">
                <a16:creationId xmlns:a16="http://schemas.microsoft.com/office/drawing/2014/main" id="{A7C82E36-446C-4D6F-B48D-96BB83DAA3E6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现有项目与本周任务</a:t>
            </a:r>
          </a:p>
        </p:txBody>
      </p:sp>
      <p:sp>
        <p:nvSpPr>
          <p:cNvPr id="2" name="title-ko-2">
            <a:extLst>
              <a:ext uri="{FF2B5EF4-FFF2-40B4-BE49-F238E27FC236}">
                <a16:creationId xmlns:a16="http://schemas.microsoft.com/office/drawing/2014/main" id="{E005C27C-53DB-42FA-95BF-1E853F68ADD8}"/>
              </a:ext>
            </a:extLst>
          </p:cNvPr>
          <p:cNvSpPr>
            <a:spLocks noGrp="1"/>
          </p:cNvSpPr>
          <p:nvPr/>
        </p:nvSpPr>
        <p:spPr>
          <a:xfrm>
            <a:off x="628650" y="1028700"/>
            <a:ext cx="10953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현재 프로젝트와 이번 주 과제</a:t>
            </a:r>
          </a:p>
        </p:txBody>
      </p:sp>
      <p:sp>
        <p:nvSpPr>
          <p:cNvPr id="3" name="number-2">
            <a:extLst>
              <a:ext uri="{FF2B5EF4-FFF2-40B4-BE49-F238E27FC236}">
                <a16:creationId xmlns:a16="http://schemas.microsoft.com/office/drawing/2014/main" id="{BE5BF7FE-41A9-4AB2-B2A2-A54FCE07047C}"/>
              </a:ext>
            </a:extLst>
          </p:cNvPr>
          <p:cNvSpPr>
            <a:spLocks noGrp="1"/>
          </p:cNvSpPr>
          <p:nvPr/>
        </p:nvSpPr>
        <p:spPr>
          <a:xfrm>
            <a:off x="11201400" y="63150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r">
              <a:def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project-zh">
            <a:extLst>
              <a:ext uri="{FF2B5EF4-FFF2-40B4-BE49-F238E27FC236}">
                <a16:creationId xmlns:a16="http://schemas.microsoft.com/office/drawing/2014/main" id="{927DE855-C8C5-4CCB-848B-8704CE032F3D}"/>
              </a:ext>
            </a:extLst>
          </p:cNvPr>
          <p:cNvSpPr>
            <a:spLocks noGrp="1"/>
          </p:cNvSpPr>
          <p:nvPr/>
        </p:nvSpPr>
        <p:spPr>
          <a:xfrm>
            <a:off x="619125" y="1685925"/>
            <a:ext cx="519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入住有数</a:t>
            </a:r>
          </a:p>
        </p:txBody>
      </p:sp>
      <p:sp>
        <p:nvSpPr>
          <p:cNvPr id="5" name="project-ko">
            <a:extLst>
              <a:ext uri="{FF2B5EF4-FFF2-40B4-BE49-F238E27FC236}">
                <a16:creationId xmlns:a16="http://schemas.microsoft.com/office/drawing/2014/main" id="{85924F1A-3502-4FA5-813B-1F5E802EA041}"/>
              </a:ext>
            </a:extLst>
          </p:cNvPr>
          <p:cNvSpPr>
            <a:spLocks noGrp="1"/>
          </p:cNvSpPr>
          <p:nvPr/>
        </p:nvSpPr>
        <p:spPr>
          <a:xfrm>
            <a:off x="619125" y="2095500"/>
            <a:ext cx="5191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6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입주 준비 안내 도우미</a:t>
            </a:r>
          </a:p>
        </p:txBody>
      </p:sp>
      <p:sp>
        <p:nvSpPr>
          <p:cNvPr id="6" name="baseline-zh">
            <a:extLst>
              <a:ext uri="{FF2B5EF4-FFF2-40B4-BE49-F238E27FC236}">
                <a16:creationId xmlns:a16="http://schemas.microsoft.com/office/drawing/2014/main" id="{8C4EC086-F85A-49CC-A17F-95CCAA9EECAD}"/>
              </a:ext>
            </a:extLst>
          </p:cNvPr>
          <p:cNvSpPr>
            <a:spLocks noGrp="1"/>
          </p:cNvSpPr>
          <p:nvPr/>
        </p:nvSpPr>
        <p:spPr>
          <a:xfrm>
            <a:off x="619125" y="2676525"/>
            <a:ext cx="4905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已有清单核对、AI 状态建议、依据问答与保存导出。</a:t>
            </a:r>
          </a:p>
        </p:txBody>
      </p:sp>
      <p:sp>
        <p:nvSpPr>
          <p:cNvPr id="7" name="baseline-ko">
            <a:extLst>
              <a:ext uri="{FF2B5EF4-FFF2-40B4-BE49-F238E27FC236}">
                <a16:creationId xmlns:a16="http://schemas.microsoft.com/office/drawing/2014/main" id="{CCB17771-2665-4B5B-BF53-D1838436E8F2}"/>
              </a:ext>
            </a:extLst>
          </p:cNvPr>
          <p:cNvSpPr>
            <a:spLocks noGrp="1"/>
          </p:cNvSpPr>
          <p:nvPr/>
        </p:nvSpPr>
        <p:spPr>
          <a:xfrm>
            <a:off x="619125" y="3305175"/>
            <a:ext cx="4905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기존 기능: 준비 목록 확인, AI 상태 제안, 근거 답변, 저장·내보내기.</a:t>
            </a:r>
          </a:p>
        </p:txBody>
      </p:sp>
      <p:sp>
        <p:nvSpPr>
          <p:cNvPr id="8" name="week5-zh">
            <a:extLst>
              <a:ext uri="{FF2B5EF4-FFF2-40B4-BE49-F238E27FC236}">
                <a16:creationId xmlns:a16="http://schemas.microsoft.com/office/drawing/2014/main" id="{A1A85B65-2B97-4432-B4AE-EB8CE160C908}"/>
              </a:ext>
            </a:extLst>
          </p:cNvPr>
          <p:cNvSpPr>
            <a:spLocks noGrp="1"/>
          </p:cNvSpPr>
          <p:nvPr/>
        </p:nvSpPr>
        <p:spPr>
          <a:xfrm>
            <a:off x="619125" y="4257675"/>
            <a:ext cx="49053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本周新增：按用户情境显示更相关的下一步准备事项。</a:t>
            </a:r>
          </a:p>
        </p:txBody>
      </p:sp>
      <p:sp>
        <p:nvSpPr>
          <p:cNvPr id="9" name="week5-ko">
            <a:extLst>
              <a:ext uri="{FF2B5EF4-FFF2-40B4-BE49-F238E27FC236}">
                <a16:creationId xmlns:a16="http://schemas.microsoft.com/office/drawing/2014/main" id="{EE18CA1F-7BF6-4A85-BDEC-6B1BBFB8D85D}"/>
              </a:ext>
            </a:extLst>
          </p:cNvPr>
          <p:cNvSpPr>
            <a:spLocks noGrp="1"/>
          </p:cNvSpPr>
          <p:nvPr/>
        </p:nvSpPr>
        <p:spPr>
          <a:xfrm>
            <a:off x="619125" y="4848225"/>
            <a:ext cx="4905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이번 주 추가: 사용자 상황에 맞는 다음 준비 항목 제시.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B01A6-E5DF-4282-B3F6-8BDB0C6A1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38875" y="1650802"/>
            <a:ext cx="5238750" cy="2946797"/>
          </a:xfrm>
          <a:prstGeom prst="rect">
            <a:avLst/>
          </a:prstGeom>
        </p:spPr>
      </p:pic>
      <p:sp>
        <p:nvSpPr>
          <p:cNvPr id="11" name="screenshot-caption-zh">
            <a:extLst>
              <a:ext uri="{FF2B5EF4-FFF2-40B4-BE49-F238E27FC236}">
                <a16:creationId xmlns:a16="http://schemas.microsoft.com/office/drawing/2014/main" id="{F62D7A40-63B3-4405-BFC5-D25F1261742F}"/>
              </a:ext>
            </a:extLst>
          </p:cNvPr>
          <p:cNvSpPr>
            <a:spLocks noGrp="1"/>
          </p:cNvSpPr>
          <p:nvPr/>
        </p:nvSpPr>
        <p:spPr>
          <a:xfrm>
            <a:off x="6248400" y="4791075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F74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5F7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46A"/>
                </a:solidFill>
                <a:latin typeface="Microsoft YaHei"/>
                <a:ea typeface="Microsoft YaHei"/>
                <a:cs typeface="Microsoft YaHei"/>
              </a:rPr>
              <a:t>韩语界面真实运行；合成情境 A，2026-10-08</a:t>
            </a:r>
          </a:p>
        </p:txBody>
      </p:sp>
      <p:sp>
        <p:nvSpPr>
          <p:cNvPr id="12" name="screenshot-caption-ko">
            <a:extLst>
              <a:ext uri="{FF2B5EF4-FFF2-40B4-BE49-F238E27FC236}">
                <a16:creationId xmlns:a16="http://schemas.microsoft.com/office/drawing/2014/main" id="{87E69DC9-F76A-4EBE-92F1-FD491BD0C222}"/>
              </a:ext>
            </a:extLst>
          </p:cNvPr>
          <p:cNvSpPr>
            <a:spLocks noGrp="1"/>
          </p:cNvSpPr>
          <p:nvPr/>
        </p:nvSpPr>
        <p:spPr>
          <a:xfrm>
            <a:off x="6248400" y="51435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2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한국어 화면 실제 실행, 모의 상황 A, 2026-10-08</a:t>
            </a:r>
          </a:p>
        </p:txBody>
      </p:sp>
    </p:spTree>
    <p:extLst>
      <p:ext uri="{BB962C8B-B14F-4D97-AF65-F5344CB8AC3E}">
        <p14:creationId xmlns:p14="http://schemas.microsoft.com/office/powerpoint/2010/main" val="163786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zh-3">
            <a:extLst>
              <a:ext uri="{FF2B5EF4-FFF2-40B4-BE49-F238E27FC236}">
                <a16:creationId xmlns:a16="http://schemas.microsoft.com/office/drawing/2014/main" id="{D3B245A3-53CF-4C18-B0A2-3DE86E83B42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推荐所用信息</a:t>
            </a:r>
          </a:p>
        </p:txBody>
      </p:sp>
      <p:sp>
        <p:nvSpPr>
          <p:cNvPr id="2" name="title-ko-3">
            <a:extLst>
              <a:ext uri="{FF2B5EF4-FFF2-40B4-BE49-F238E27FC236}">
                <a16:creationId xmlns:a16="http://schemas.microsoft.com/office/drawing/2014/main" id="{99556FCA-8F7C-4024-8DFB-7AB459AF593C}"/>
              </a:ext>
            </a:extLst>
          </p:cNvPr>
          <p:cNvSpPr>
            <a:spLocks noGrp="1"/>
          </p:cNvSpPr>
          <p:nvPr/>
        </p:nvSpPr>
        <p:spPr>
          <a:xfrm>
            <a:off x="628650" y="1028700"/>
            <a:ext cx="10953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추천에 사용하는 정보</a:t>
            </a:r>
          </a:p>
        </p:txBody>
      </p:sp>
      <p:sp>
        <p:nvSpPr>
          <p:cNvPr id="3" name="number-3">
            <a:extLst>
              <a:ext uri="{FF2B5EF4-FFF2-40B4-BE49-F238E27FC236}">
                <a16:creationId xmlns:a16="http://schemas.microsoft.com/office/drawing/2014/main" id="{08D40D4C-FA55-4282-A878-6526CF17F97E}"/>
              </a:ext>
            </a:extLst>
          </p:cNvPr>
          <p:cNvSpPr>
            <a:spLocks noGrp="1"/>
          </p:cNvSpPr>
          <p:nvPr/>
        </p:nvSpPr>
        <p:spPr>
          <a:xfrm>
            <a:off x="11201400" y="63150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r">
              <a:def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user-zh">
            <a:extLst>
              <a:ext uri="{FF2B5EF4-FFF2-40B4-BE49-F238E27FC236}">
                <a16:creationId xmlns:a16="http://schemas.microsoft.com/office/drawing/2014/main" id="{BB4FAFBD-F269-4D1E-B490-0ECA3F6EC4B5}"/>
              </a:ext>
            </a:extLst>
          </p:cNvPr>
          <p:cNvSpPr>
            <a:spLocks noGrp="1"/>
          </p:cNvSpPr>
          <p:nvPr/>
        </p:nvSpPr>
        <p:spPr>
          <a:xfrm>
            <a:off x="619125" y="16383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5" name="user-ko">
            <a:extLst>
              <a:ext uri="{FF2B5EF4-FFF2-40B4-BE49-F238E27FC236}">
                <a16:creationId xmlns:a16="http://schemas.microsoft.com/office/drawing/2014/main" id="{F65A8D02-E4ED-4E56-94F7-0AE58EFB63F4}"/>
              </a:ext>
            </a:extLst>
          </p:cNvPr>
          <p:cNvSpPr>
            <a:spLocks noGrp="1"/>
          </p:cNvSpPr>
          <p:nvPr/>
        </p:nvSpPr>
        <p:spPr>
          <a:xfrm>
            <a:off x="619125" y="2047875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5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사용자 입력</a:t>
            </a:r>
          </a:p>
        </p:txBody>
      </p:sp>
      <p:sp>
        <p:nvSpPr>
          <p:cNvPr id="6" name="user-body-zh">
            <a:extLst>
              <a:ext uri="{FF2B5EF4-FFF2-40B4-BE49-F238E27FC236}">
                <a16:creationId xmlns:a16="http://schemas.microsoft.com/office/drawing/2014/main" id="{C7AC184D-7732-46C2-B272-D0AD1C65051A}"/>
              </a:ext>
            </a:extLst>
          </p:cNvPr>
          <p:cNvSpPr>
            <a:spLocks noGrp="1"/>
          </p:cNvSpPr>
          <p:nvPr/>
        </p:nvSpPr>
        <p:spPr>
          <a:xfrm>
            <a:off x="619125" y="2447925"/>
            <a:ext cx="31908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适用身份、准备状态、可选日期</a:t>
            </a:r>
          </a:p>
        </p:txBody>
      </p:sp>
      <p:sp>
        <p:nvSpPr>
          <p:cNvPr id="7" name="user-body-ko">
            <a:extLst>
              <a:ext uri="{FF2B5EF4-FFF2-40B4-BE49-F238E27FC236}">
                <a16:creationId xmlns:a16="http://schemas.microsoft.com/office/drawing/2014/main" id="{35491CCE-8464-4E86-91C9-B04EAC8FB44F}"/>
              </a:ext>
            </a:extLst>
          </p:cNvPr>
          <p:cNvSpPr>
            <a:spLocks noGrp="1"/>
          </p:cNvSpPr>
          <p:nvPr/>
        </p:nvSpPr>
        <p:spPr>
          <a:xfrm>
            <a:off x="619125" y="3009900"/>
            <a:ext cx="3190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적용 대상, 준비 상태, 선택 입력 날짜</a:t>
            </a:r>
          </a:p>
        </p:txBody>
      </p:sp>
      <p:sp>
        <p:nvSpPr>
          <p:cNvPr id="8" name="candidate-zh">
            <a:extLst>
              <a:ext uri="{FF2B5EF4-FFF2-40B4-BE49-F238E27FC236}">
                <a16:creationId xmlns:a16="http://schemas.microsoft.com/office/drawing/2014/main" id="{BA604F9B-5B3C-4E22-BF80-33B962C5F0FB}"/>
              </a:ext>
            </a:extLst>
          </p:cNvPr>
          <p:cNvSpPr>
            <a:spLocks noGrp="1"/>
          </p:cNvSpPr>
          <p:nvPr/>
        </p:nvSpPr>
        <p:spPr>
          <a:xfrm>
            <a:off x="4267200" y="16383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候选事项</a:t>
            </a:r>
          </a:p>
        </p:txBody>
      </p:sp>
      <p:sp>
        <p:nvSpPr>
          <p:cNvPr id="9" name="candidate-ko">
            <a:extLst>
              <a:ext uri="{FF2B5EF4-FFF2-40B4-BE49-F238E27FC236}">
                <a16:creationId xmlns:a16="http://schemas.microsoft.com/office/drawing/2014/main" id="{6B0BEC7E-337A-41A3-BD02-CD7F919C7901}"/>
              </a:ext>
            </a:extLst>
          </p:cNvPr>
          <p:cNvSpPr>
            <a:spLocks noGrp="1"/>
          </p:cNvSpPr>
          <p:nvPr/>
        </p:nvSpPr>
        <p:spPr>
          <a:xfrm>
            <a:off x="4267200" y="2047875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5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추천 후보</a:t>
            </a:r>
          </a:p>
        </p:txBody>
      </p:sp>
      <p:sp>
        <p:nvSpPr>
          <p:cNvPr id="10" name="candidate-body-zh">
            <a:extLst>
              <a:ext uri="{FF2B5EF4-FFF2-40B4-BE49-F238E27FC236}">
                <a16:creationId xmlns:a16="http://schemas.microsoft.com/office/drawing/2014/main" id="{93821FD7-AC43-41AA-A60A-5D7BD47A26B1}"/>
              </a:ext>
            </a:extLst>
          </p:cNvPr>
          <p:cNvSpPr>
            <a:spLocks noGrp="1"/>
          </p:cNvSpPr>
          <p:nvPr/>
        </p:nvSpPr>
        <p:spPr>
          <a:xfrm>
            <a:off x="4267200" y="2447925"/>
            <a:ext cx="333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9 项可核对清单；另有 6 项参考提醒</a:t>
            </a:r>
          </a:p>
        </p:txBody>
      </p:sp>
      <p:sp>
        <p:nvSpPr>
          <p:cNvPr id="11" name="candidate-body-ko">
            <a:extLst>
              <a:ext uri="{FF2B5EF4-FFF2-40B4-BE49-F238E27FC236}">
                <a16:creationId xmlns:a16="http://schemas.microsoft.com/office/drawing/2014/main" id="{BFD3E2E9-BA9A-46F4-A8A2-E164F551794D}"/>
              </a:ext>
            </a:extLst>
          </p:cNvPr>
          <p:cNvSpPr>
            <a:spLocks noGrp="1"/>
          </p:cNvSpPr>
          <p:nvPr/>
        </p:nvSpPr>
        <p:spPr>
          <a:xfrm>
            <a:off x="4267200" y="3067050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확인 가능한 9개 항목과 참고 안내 6개</a:t>
            </a:r>
          </a:p>
        </p:txBody>
      </p:sp>
      <p:sp>
        <p:nvSpPr>
          <p:cNvPr id="12" name="evidence-zh">
            <a:extLst>
              <a:ext uri="{FF2B5EF4-FFF2-40B4-BE49-F238E27FC236}">
                <a16:creationId xmlns:a16="http://schemas.microsoft.com/office/drawing/2014/main" id="{B409EF68-25F9-4CB4-AC75-AFCBF2311ADE}"/>
              </a:ext>
            </a:extLst>
          </p:cNvPr>
          <p:cNvSpPr>
            <a:spLocks noGrp="1"/>
          </p:cNvSpPr>
          <p:nvPr/>
        </p:nvSpPr>
        <p:spPr>
          <a:xfrm>
            <a:off x="8096250" y="16383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资料依据</a:t>
            </a:r>
          </a:p>
        </p:txBody>
      </p:sp>
      <p:sp>
        <p:nvSpPr>
          <p:cNvPr id="13" name="evidence-ko">
            <a:extLst>
              <a:ext uri="{FF2B5EF4-FFF2-40B4-BE49-F238E27FC236}">
                <a16:creationId xmlns:a16="http://schemas.microsoft.com/office/drawing/2014/main" id="{7E787051-93BB-46C4-AB1F-4B3ED8007DAA}"/>
              </a:ext>
            </a:extLst>
          </p:cNvPr>
          <p:cNvSpPr>
            <a:spLocks noGrp="1"/>
          </p:cNvSpPr>
          <p:nvPr/>
        </p:nvSpPr>
        <p:spPr>
          <a:xfrm>
            <a:off x="8096250" y="2047875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5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자료 근거</a:t>
            </a:r>
          </a:p>
        </p:txBody>
      </p:sp>
      <p:sp>
        <p:nvSpPr>
          <p:cNvPr id="14" name="evidence-body-zh">
            <a:extLst>
              <a:ext uri="{FF2B5EF4-FFF2-40B4-BE49-F238E27FC236}">
                <a16:creationId xmlns:a16="http://schemas.microsoft.com/office/drawing/2014/main" id="{C4939690-AD80-442B-AE41-5D6DB106C4E5}"/>
              </a:ext>
            </a:extLst>
          </p:cNvPr>
          <p:cNvSpPr>
            <a:spLocks noGrp="1"/>
          </p:cNvSpPr>
          <p:nvPr/>
        </p:nvSpPr>
        <p:spPr>
          <a:xfrm>
            <a:off x="8096250" y="2447925"/>
            <a:ext cx="333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15 条知识条目、3 个公开来源</a:t>
            </a:r>
          </a:p>
        </p:txBody>
      </p:sp>
      <p:sp>
        <p:nvSpPr>
          <p:cNvPr id="15" name="evidence-body-ko">
            <a:extLst>
              <a:ext uri="{FF2B5EF4-FFF2-40B4-BE49-F238E27FC236}">
                <a16:creationId xmlns:a16="http://schemas.microsoft.com/office/drawing/2014/main" id="{8D69CF3A-E899-47F5-92AF-040D64B7C591}"/>
              </a:ext>
            </a:extLst>
          </p:cNvPr>
          <p:cNvSpPr>
            <a:spLocks noGrp="1"/>
          </p:cNvSpPr>
          <p:nvPr/>
        </p:nvSpPr>
        <p:spPr>
          <a:xfrm>
            <a:off x="8096250" y="3067050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지식 항목 15개, 공개 출처 3곳</a:t>
            </a:r>
          </a:p>
        </p:txBody>
      </p:sp>
      <p:sp>
        <p:nvSpPr>
          <p:cNvPr id="16" name="feedback-zh">
            <a:extLst>
              <a:ext uri="{FF2B5EF4-FFF2-40B4-BE49-F238E27FC236}">
                <a16:creationId xmlns:a16="http://schemas.microsoft.com/office/drawing/2014/main" id="{608346E1-0CBC-4C98-8374-D96D489004D0}"/>
              </a:ext>
            </a:extLst>
          </p:cNvPr>
          <p:cNvSpPr>
            <a:spLocks noGrp="1"/>
          </p:cNvSpPr>
          <p:nvPr/>
        </p:nvSpPr>
        <p:spPr>
          <a:xfrm>
            <a:off x="619125" y="3714750"/>
            <a:ext cx="10572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数据与反馈：公开来源加用户自填状态；本轮没有训练数据，也不记录推荐点击反馈。</a:t>
            </a:r>
          </a:p>
        </p:txBody>
      </p:sp>
      <p:sp>
        <p:nvSpPr>
          <p:cNvPr id="17" name="feedback-ko">
            <a:extLst>
              <a:ext uri="{FF2B5EF4-FFF2-40B4-BE49-F238E27FC236}">
                <a16:creationId xmlns:a16="http://schemas.microsoft.com/office/drawing/2014/main" id="{135C1795-CE24-48E7-9009-6E8B52E9CEDF}"/>
              </a:ext>
            </a:extLst>
          </p:cNvPr>
          <p:cNvSpPr>
            <a:spLocks noGrp="1"/>
          </p:cNvSpPr>
          <p:nvPr/>
        </p:nvSpPr>
        <p:spPr>
          <a:xfrm>
            <a:off x="619125" y="4133850"/>
            <a:ext cx="10668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데이터·피드백: 공개 출처와 사용자가 입력한 상태를 사용하며, 현재 학습 데이터나 추천 클릭 반응은 수집하지 않습니다.</a:t>
            </a:r>
          </a:p>
        </p:txBody>
      </p:sp>
      <p:sp>
        <p:nvSpPr>
          <p:cNvPr id="18" name="criteria-zh">
            <a:extLst>
              <a:ext uri="{FF2B5EF4-FFF2-40B4-BE49-F238E27FC236}">
                <a16:creationId xmlns:a16="http://schemas.microsoft.com/office/drawing/2014/main" id="{9AB846D0-82E5-4C95-AB0E-2499D7659AB6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10572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标准：未完成的可核对项选 Top 3；依当前阶段、核对结论、要求类型排序。</a:t>
            </a:r>
          </a:p>
        </p:txBody>
      </p:sp>
      <p:sp>
        <p:nvSpPr>
          <p:cNvPr id="19" name="criteria-ko">
            <a:extLst>
              <a:ext uri="{FF2B5EF4-FFF2-40B4-BE49-F238E27FC236}">
                <a16:creationId xmlns:a16="http://schemas.microsoft.com/office/drawing/2014/main" id="{D0624D08-2E71-4EC4-AF0B-3D196C334052}"/>
              </a:ext>
            </a:extLst>
          </p:cNvPr>
          <p:cNvSpPr>
            <a:spLocks noGrp="1"/>
          </p:cNvSpPr>
          <p:nvPr/>
        </p:nvSpPr>
        <p:spPr>
          <a:xfrm>
            <a:off x="619125" y="5181600"/>
            <a:ext cx="10668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기준: 미완료 확인 항목 중 상위 3개를 고르고, 현재 단계·점검 결과·요구 유형 순으로 정렬합니다.</a:t>
            </a:r>
          </a:p>
        </p:txBody>
      </p:sp>
      <p:sp>
        <p:nvSpPr>
          <p:cNvPr id="20" name="criteria-foot-zh">
            <a:extLst>
              <a:ext uri="{FF2B5EF4-FFF2-40B4-BE49-F238E27FC236}">
                <a16:creationId xmlns:a16="http://schemas.microsoft.com/office/drawing/2014/main" id="{BF05F3AA-2F30-4B12-8C75-A1813E48AABA}"/>
              </a:ext>
            </a:extLst>
          </p:cNvPr>
          <p:cNvSpPr>
            <a:spLocks noGrp="1"/>
          </p:cNvSpPr>
          <p:nvPr/>
        </p:nvSpPr>
        <p:spPr>
          <a:xfrm>
            <a:off x="619125" y="5800725"/>
            <a:ext cx="1057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8A47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8A47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A4739"/>
                </a:solidFill>
                <a:latin typeface="Microsoft YaHei"/>
                <a:ea typeface="Microsoft YaHei"/>
                <a:cs typeface="Microsoft YaHei"/>
              </a:rPr>
              <a:t>无候选提示无新待办；信息不足保留“待确认”。</a:t>
            </a:r>
          </a:p>
        </p:txBody>
      </p:sp>
      <p:sp>
        <p:nvSpPr>
          <p:cNvPr id="21" name="criteria-foot-ko">
            <a:extLst>
              <a:ext uri="{FF2B5EF4-FFF2-40B4-BE49-F238E27FC236}">
                <a16:creationId xmlns:a16="http://schemas.microsoft.com/office/drawing/2014/main" id="{B9EB970F-E70C-4003-AC3E-2ABE4100164A}"/>
              </a:ext>
            </a:extLst>
          </p:cNvPr>
          <p:cNvSpPr>
            <a:spLocks noGrp="1"/>
          </p:cNvSpPr>
          <p:nvPr/>
        </p:nvSpPr>
        <p:spPr>
          <a:xfrm>
            <a:off x="619125" y="6105525"/>
            <a:ext cx="1057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8A473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200" b="0">
                <a:solidFill>
                  <a:srgbClr val="8A473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4739"/>
                </a:solidFill>
                <a:latin typeface="Malgun Gothic"/>
                <a:ea typeface="Malgun Gothic"/>
                <a:cs typeface="Malgun Gothic"/>
              </a:rPr>
              <a:t>후보가 없으면 새 할 일이 없다고 안내하고, 정보가 부족하면 “확인 필요”로 남깁니다.</a:t>
            </a:r>
          </a:p>
        </p:txBody>
      </p:sp>
    </p:spTree>
    <p:extLst>
      <p:ext uri="{BB962C8B-B14F-4D97-AF65-F5344CB8AC3E}">
        <p14:creationId xmlns:p14="http://schemas.microsoft.com/office/powerpoint/2010/main" val="540064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-zh-4">
            <a:extLst>
              <a:ext uri="{FF2B5EF4-FFF2-40B4-BE49-F238E27FC236}">
                <a16:creationId xmlns:a16="http://schemas.microsoft.com/office/drawing/2014/main" id="{111F4FE4-BEF1-49EF-B333-39376D0A4D7D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个性化建议流程</a:t>
            </a:r>
          </a:p>
        </p:txBody>
      </p:sp>
      <p:sp>
        <p:nvSpPr>
          <p:cNvPr id="2" name="title-ko-4">
            <a:extLst>
              <a:ext uri="{FF2B5EF4-FFF2-40B4-BE49-F238E27FC236}">
                <a16:creationId xmlns:a16="http://schemas.microsoft.com/office/drawing/2014/main" id="{2054172A-5A7E-4ED6-A7FF-84A9581FBCB4}"/>
              </a:ext>
            </a:extLst>
          </p:cNvPr>
          <p:cNvSpPr>
            <a:spLocks noGrp="1"/>
          </p:cNvSpPr>
          <p:nvPr/>
        </p:nvSpPr>
        <p:spPr>
          <a:xfrm>
            <a:off x="628650" y="1028700"/>
            <a:ext cx="10953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개인화 안내 흐름</a:t>
            </a:r>
          </a:p>
        </p:txBody>
      </p:sp>
      <p:sp>
        <p:nvSpPr>
          <p:cNvPr id="3" name="number-4">
            <a:extLst>
              <a:ext uri="{FF2B5EF4-FFF2-40B4-BE49-F238E27FC236}">
                <a16:creationId xmlns:a16="http://schemas.microsoft.com/office/drawing/2014/main" id="{06F0523D-232F-4766-8258-05BBF46CED6C}"/>
              </a:ext>
            </a:extLst>
          </p:cNvPr>
          <p:cNvSpPr>
            <a:spLocks noGrp="1"/>
          </p:cNvSpPr>
          <p:nvPr/>
        </p:nvSpPr>
        <p:spPr>
          <a:xfrm>
            <a:off x="11201400" y="63150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r">
              <a:def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flow-step-1">
            <a:extLst>
              <a:ext uri="{FF2B5EF4-FFF2-40B4-BE49-F238E27FC236}">
                <a16:creationId xmlns:a16="http://schemas.microsoft.com/office/drawing/2014/main" id="{35B05038-4AC7-434F-80CC-A2B1A64E6FB5}"/>
              </a:ext>
            </a:extLst>
          </p:cNvPr>
          <p:cNvSpPr>
            <a:spLocks noGrp="1"/>
          </p:cNvSpPr>
          <p:nvPr/>
        </p:nvSpPr>
        <p:spPr>
          <a:xfrm>
            <a:off x="552450" y="2228850"/>
            <a:ext cx="2038350" cy="1695450"/>
          </a:xfrm>
          <a:prstGeom prst="rect">
            <a:avLst/>
          </a:prstGeom>
          <a:solidFill>
            <a:srgbClr val="E6EEE8"/>
          </a:solidFill>
          <a:ln w="9525">
            <a:solidFill>
              <a:srgbClr val="B7C8BD"/>
            </a:solidFill>
            <a:prstDash val="solid"/>
          </a:ln>
        </p:spPr>
      </p:sp>
      <p:sp>
        <p:nvSpPr>
          <p:cNvPr id="5" name="flow-zh-1">
            <a:extLst>
              <a:ext uri="{FF2B5EF4-FFF2-40B4-BE49-F238E27FC236}">
                <a16:creationId xmlns:a16="http://schemas.microsoft.com/office/drawing/2014/main" id="{4F9A4ED9-1933-4EE0-A3FB-84E11758E9C0}"/>
              </a:ext>
            </a:extLst>
          </p:cNvPr>
          <p:cNvSpPr>
            <a:spLocks noGrp="1"/>
          </p:cNvSpPr>
          <p:nvPr/>
        </p:nvSpPr>
        <p:spPr>
          <a:xfrm>
            <a:off x="676275" y="2638425"/>
            <a:ext cx="17907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身份·日期·状态</a:t>
            </a:r>
          </a:p>
        </p:txBody>
      </p:sp>
      <p:sp>
        <p:nvSpPr>
          <p:cNvPr id="6" name="flow-ko-1">
            <a:extLst>
              <a:ext uri="{FF2B5EF4-FFF2-40B4-BE49-F238E27FC236}">
                <a16:creationId xmlns:a16="http://schemas.microsoft.com/office/drawing/2014/main" id="{1C2F4835-E81C-4987-A0FF-4228B2A0BF02}"/>
              </a:ext>
            </a:extLst>
          </p:cNvPr>
          <p:cNvSpPr>
            <a:spLocks noGrp="1"/>
          </p:cNvSpPr>
          <p:nvPr/>
        </p:nvSpPr>
        <p:spPr>
          <a:xfrm>
            <a:off x="676275" y="3171825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ctr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대상·날짜·상태</a:t>
            </a:r>
          </a:p>
        </p:txBody>
      </p:sp>
      <p:sp>
        <p:nvSpPr>
          <p:cNvPr id="7" name="flow-step-2">
            <a:extLst>
              <a:ext uri="{FF2B5EF4-FFF2-40B4-BE49-F238E27FC236}">
                <a16:creationId xmlns:a16="http://schemas.microsoft.com/office/drawing/2014/main" id="{1AB92590-12C3-4DE6-A097-7D06C7001F2F}"/>
              </a:ext>
            </a:extLst>
          </p:cNvPr>
          <p:cNvSpPr>
            <a:spLocks noGrp="1"/>
          </p:cNvSpPr>
          <p:nvPr/>
        </p:nvSpPr>
        <p:spPr>
          <a:xfrm>
            <a:off x="2886075" y="2228850"/>
            <a:ext cx="2038350" cy="1695450"/>
          </a:xfrm>
          <a:prstGeom prst="rect">
            <a:avLst/>
          </a:prstGeom>
          <a:solidFill>
            <a:srgbClr val="E6EEE8"/>
          </a:solidFill>
          <a:ln w="9525">
            <a:solidFill>
              <a:srgbClr val="B7C8BD"/>
            </a:solidFill>
            <a:prstDash val="solid"/>
          </a:ln>
        </p:spPr>
      </p:sp>
      <p:sp>
        <p:nvSpPr>
          <p:cNvPr id="8" name="flow-zh-2">
            <a:extLst>
              <a:ext uri="{FF2B5EF4-FFF2-40B4-BE49-F238E27FC236}">
                <a16:creationId xmlns:a16="http://schemas.microsoft.com/office/drawing/2014/main" id="{3A5D3873-AC01-4B58-B99F-6F572636E8C2}"/>
              </a:ext>
            </a:extLst>
          </p:cNvPr>
          <p:cNvSpPr>
            <a:spLocks noGrp="1"/>
          </p:cNvSpPr>
          <p:nvPr/>
        </p:nvSpPr>
        <p:spPr>
          <a:xfrm>
            <a:off x="3009900" y="2638425"/>
            <a:ext cx="17907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读取15条资料</a:t>
            </a:r>
          </a:p>
        </p:txBody>
      </p:sp>
      <p:sp>
        <p:nvSpPr>
          <p:cNvPr id="9" name="flow-ko-2">
            <a:extLst>
              <a:ext uri="{FF2B5EF4-FFF2-40B4-BE49-F238E27FC236}">
                <a16:creationId xmlns:a16="http://schemas.microsoft.com/office/drawing/2014/main" id="{D52C377B-E489-4C6F-8EA2-51AF298E08C6}"/>
              </a:ext>
            </a:extLst>
          </p:cNvPr>
          <p:cNvSpPr>
            <a:spLocks noGrp="1"/>
          </p:cNvSpPr>
          <p:nvPr/>
        </p:nvSpPr>
        <p:spPr>
          <a:xfrm>
            <a:off x="3009900" y="3171825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ctr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자료 15개 조회</a:t>
            </a:r>
          </a:p>
        </p:txBody>
      </p:sp>
      <p:sp>
        <p:nvSpPr>
          <p:cNvPr id="10" name="flow-step-3">
            <a:extLst>
              <a:ext uri="{FF2B5EF4-FFF2-40B4-BE49-F238E27FC236}">
                <a16:creationId xmlns:a16="http://schemas.microsoft.com/office/drawing/2014/main" id="{7B25A1FD-E4BA-47A9-B9A9-B83467E5435A}"/>
              </a:ext>
            </a:extLst>
          </p:cNvPr>
          <p:cNvSpPr>
            <a:spLocks noGrp="1"/>
          </p:cNvSpPr>
          <p:nvPr/>
        </p:nvSpPr>
        <p:spPr>
          <a:xfrm>
            <a:off x="5219700" y="2228850"/>
            <a:ext cx="2038350" cy="1695450"/>
          </a:xfrm>
          <a:prstGeom prst="rect">
            <a:avLst/>
          </a:prstGeom>
          <a:solidFill>
            <a:srgbClr val="E6EEE8"/>
          </a:solidFill>
          <a:ln w="9525">
            <a:solidFill>
              <a:srgbClr val="B7C8BD"/>
            </a:solidFill>
            <a:prstDash val="solid"/>
          </a:ln>
        </p:spPr>
      </p:sp>
      <p:sp>
        <p:nvSpPr>
          <p:cNvPr id="11" name="flow-zh-3">
            <a:extLst>
              <a:ext uri="{FF2B5EF4-FFF2-40B4-BE49-F238E27FC236}">
                <a16:creationId xmlns:a16="http://schemas.microsoft.com/office/drawing/2014/main" id="{E56F5B0B-A3AD-4439-9F2D-8DCD744B04A4}"/>
              </a:ext>
            </a:extLst>
          </p:cNvPr>
          <p:cNvSpPr>
            <a:spLocks noGrp="1"/>
          </p:cNvSpPr>
          <p:nvPr/>
        </p:nvSpPr>
        <p:spPr>
          <a:xfrm>
            <a:off x="5343525" y="2638425"/>
            <a:ext cx="17907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适用性·日期核对</a:t>
            </a:r>
          </a:p>
        </p:txBody>
      </p:sp>
      <p:sp>
        <p:nvSpPr>
          <p:cNvPr id="12" name="flow-ko-3">
            <a:extLst>
              <a:ext uri="{FF2B5EF4-FFF2-40B4-BE49-F238E27FC236}">
                <a16:creationId xmlns:a16="http://schemas.microsoft.com/office/drawing/2014/main" id="{518C34F4-4413-4AD2-AD85-25A5E0E10A72}"/>
              </a:ext>
            </a:extLst>
          </p:cNvPr>
          <p:cNvSpPr>
            <a:spLocks noGrp="1"/>
          </p:cNvSpPr>
          <p:nvPr/>
        </p:nvSpPr>
        <p:spPr>
          <a:xfrm>
            <a:off x="5343525" y="3171825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ctr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적용·날짜 확인</a:t>
            </a:r>
          </a:p>
        </p:txBody>
      </p:sp>
      <p:sp>
        <p:nvSpPr>
          <p:cNvPr id="13" name="flow-step-4">
            <a:extLst>
              <a:ext uri="{FF2B5EF4-FFF2-40B4-BE49-F238E27FC236}">
                <a16:creationId xmlns:a16="http://schemas.microsoft.com/office/drawing/2014/main" id="{71297863-2290-40AE-8736-7D91002DD3B9}"/>
              </a:ext>
            </a:extLst>
          </p:cNvPr>
          <p:cNvSpPr>
            <a:spLocks noGrp="1"/>
          </p:cNvSpPr>
          <p:nvPr/>
        </p:nvSpPr>
        <p:spPr>
          <a:xfrm>
            <a:off x="7553325" y="2228850"/>
            <a:ext cx="2038350" cy="1695450"/>
          </a:xfrm>
          <a:prstGeom prst="rect">
            <a:avLst/>
          </a:prstGeom>
          <a:solidFill>
            <a:srgbClr val="E6EEE8"/>
          </a:solidFill>
          <a:ln w="9525">
            <a:solidFill>
              <a:srgbClr val="B7C8BD"/>
            </a:solidFill>
            <a:prstDash val="solid"/>
          </a:ln>
        </p:spPr>
      </p:sp>
      <p:sp>
        <p:nvSpPr>
          <p:cNvPr id="14" name="flow-zh-4">
            <a:extLst>
              <a:ext uri="{FF2B5EF4-FFF2-40B4-BE49-F238E27FC236}">
                <a16:creationId xmlns:a16="http://schemas.microsoft.com/office/drawing/2014/main" id="{0B710E83-452B-4483-8175-731D2EE5BF0B}"/>
              </a:ext>
            </a:extLst>
          </p:cNvPr>
          <p:cNvSpPr>
            <a:spLocks noGrp="1"/>
          </p:cNvSpPr>
          <p:nvPr/>
        </p:nvSpPr>
        <p:spPr>
          <a:xfrm>
            <a:off x="7677150" y="2638425"/>
            <a:ext cx="17907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排除并排序</a:t>
            </a:r>
          </a:p>
        </p:txBody>
      </p:sp>
      <p:sp>
        <p:nvSpPr>
          <p:cNvPr id="15" name="flow-ko-4">
            <a:extLst>
              <a:ext uri="{FF2B5EF4-FFF2-40B4-BE49-F238E27FC236}">
                <a16:creationId xmlns:a16="http://schemas.microsoft.com/office/drawing/2014/main" id="{6BAE0EC4-668D-4803-B8B3-CF7FB05CA760}"/>
              </a:ext>
            </a:extLst>
          </p:cNvPr>
          <p:cNvSpPr>
            <a:spLocks noGrp="1"/>
          </p:cNvSpPr>
          <p:nvPr/>
        </p:nvSpPr>
        <p:spPr>
          <a:xfrm>
            <a:off x="7677150" y="3171825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ctr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제외·정렬</a:t>
            </a:r>
          </a:p>
        </p:txBody>
      </p:sp>
      <p:sp>
        <p:nvSpPr>
          <p:cNvPr id="16" name="flow-step-5">
            <a:extLst>
              <a:ext uri="{FF2B5EF4-FFF2-40B4-BE49-F238E27FC236}">
                <a16:creationId xmlns:a16="http://schemas.microsoft.com/office/drawing/2014/main" id="{6FBFD55C-8352-435B-8B5D-57438F9CE9C3}"/>
              </a:ext>
            </a:extLst>
          </p:cNvPr>
          <p:cNvSpPr>
            <a:spLocks noGrp="1"/>
          </p:cNvSpPr>
          <p:nvPr/>
        </p:nvSpPr>
        <p:spPr>
          <a:xfrm>
            <a:off x="9886950" y="2228850"/>
            <a:ext cx="2038350" cy="1695450"/>
          </a:xfrm>
          <a:prstGeom prst="rect">
            <a:avLst/>
          </a:prstGeom>
          <a:solidFill>
            <a:srgbClr val="E6EEE8"/>
          </a:solidFill>
          <a:ln w="9525">
            <a:solidFill>
              <a:srgbClr val="B7C8BD"/>
            </a:solidFill>
            <a:prstDash val="solid"/>
          </a:ln>
        </p:spPr>
      </p:sp>
      <p:sp>
        <p:nvSpPr>
          <p:cNvPr id="17" name="flow-zh-5">
            <a:extLst>
              <a:ext uri="{FF2B5EF4-FFF2-40B4-BE49-F238E27FC236}">
                <a16:creationId xmlns:a16="http://schemas.microsoft.com/office/drawing/2014/main" id="{2BEB55A4-281E-4074-9B59-478A65D21A9F}"/>
              </a:ext>
            </a:extLst>
          </p:cNvPr>
          <p:cNvSpPr>
            <a:spLocks noGrp="1"/>
          </p:cNvSpPr>
          <p:nvPr/>
        </p:nvSpPr>
        <p:spPr>
          <a:xfrm>
            <a:off x="10010775" y="2638425"/>
            <a:ext cx="17907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Top 3与行动</a:t>
            </a:r>
          </a:p>
        </p:txBody>
      </p:sp>
      <p:sp>
        <p:nvSpPr>
          <p:cNvPr id="18" name="flow-ko-5">
            <a:extLst>
              <a:ext uri="{FF2B5EF4-FFF2-40B4-BE49-F238E27FC236}">
                <a16:creationId xmlns:a16="http://schemas.microsoft.com/office/drawing/2014/main" id="{76184288-26E9-4FC9-816F-FBF7317E4771}"/>
              </a:ext>
            </a:extLst>
          </p:cNvPr>
          <p:cNvSpPr>
            <a:spLocks noGrp="1"/>
          </p:cNvSpPr>
          <p:nvPr/>
        </p:nvSpPr>
        <p:spPr>
          <a:xfrm>
            <a:off x="10010775" y="3171825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ctr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상위 3개·행동</a:t>
            </a:r>
          </a:p>
        </p:txBody>
      </p:sp>
      <p:sp>
        <p:nvSpPr>
          <p:cNvPr id="19" name="flow-arrow-1">
            <a:extLst>
              <a:ext uri="{FF2B5EF4-FFF2-40B4-BE49-F238E27FC236}">
                <a16:creationId xmlns:a16="http://schemas.microsoft.com/office/drawing/2014/main" id="{027E734B-7DF2-4B68-ACBC-BB7CDC35E9BB}"/>
              </a:ext>
            </a:extLst>
          </p:cNvPr>
          <p:cNvSpPr>
            <a:spLocks noGrp="1"/>
          </p:cNvSpPr>
          <p:nvPr/>
        </p:nvSpPr>
        <p:spPr>
          <a:xfrm>
            <a:off x="2590800" y="2971800"/>
            <a:ext cx="276225" cy="171450"/>
          </a:xfrm>
          <a:prstGeom prst="rightArrow">
            <a:avLst/>
          </a:prstGeom>
          <a:solidFill>
            <a:srgbClr val="267A5A"/>
          </a:solidFill>
          <a:ln w="0">
            <a:noFill/>
            <a:prstDash val="solid"/>
          </a:ln>
        </p:spPr>
      </p:sp>
      <p:sp>
        <p:nvSpPr>
          <p:cNvPr id="20" name="flow-arrow-2">
            <a:extLst>
              <a:ext uri="{FF2B5EF4-FFF2-40B4-BE49-F238E27FC236}">
                <a16:creationId xmlns:a16="http://schemas.microsoft.com/office/drawing/2014/main" id="{57F3C980-204E-4B2B-995C-BB728C4511EF}"/>
              </a:ext>
            </a:extLst>
          </p:cNvPr>
          <p:cNvSpPr>
            <a:spLocks noGrp="1"/>
          </p:cNvSpPr>
          <p:nvPr/>
        </p:nvSpPr>
        <p:spPr>
          <a:xfrm>
            <a:off x="4924425" y="2971800"/>
            <a:ext cx="276225" cy="171450"/>
          </a:xfrm>
          <a:prstGeom prst="rightArrow">
            <a:avLst/>
          </a:prstGeom>
          <a:solidFill>
            <a:srgbClr val="267A5A"/>
          </a:solidFill>
          <a:ln w="0">
            <a:noFill/>
            <a:prstDash val="solid"/>
          </a:ln>
        </p:spPr>
      </p:sp>
      <p:sp>
        <p:nvSpPr>
          <p:cNvPr id="21" name="flow-arrow-3">
            <a:extLst>
              <a:ext uri="{FF2B5EF4-FFF2-40B4-BE49-F238E27FC236}">
                <a16:creationId xmlns:a16="http://schemas.microsoft.com/office/drawing/2014/main" id="{E1CE0B4F-D266-4E4B-A8EF-5D9E4BB28AAF}"/>
              </a:ext>
            </a:extLst>
          </p:cNvPr>
          <p:cNvSpPr>
            <a:spLocks noGrp="1"/>
          </p:cNvSpPr>
          <p:nvPr/>
        </p:nvSpPr>
        <p:spPr>
          <a:xfrm>
            <a:off x="7258050" y="2971800"/>
            <a:ext cx="276225" cy="171450"/>
          </a:xfrm>
          <a:prstGeom prst="rightArrow">
            <a:avLst/>
          </a:prstGeom>
          <a:solidFill>
            <a:srgbClr val="267A5A"/>
          </a:solidFill>
          <a:ln w="0">
            <a:noFill/>
            <a:prstDash val="solid"/>
          </a:ln>
        </p:spPr>
      </p:sp>
      <p:sp>
        <p:nvSpPr>
          <p:cNvPr id="22" name="flow-arrow-4">
            <a:extLst>
              <a:ext uri="{FF2B5EF4-FFF2-40B4-BE49-F238E27FC236}">
                <a16:creationId xmlns:a16="http://schemas.microsoft.com/office/drawing/2014/main" id="{7227FE16-5CD0-44A9-9F18-433F233C31B7}"/>
              </a:ext>
            </a:extLst>
          </p:cNvPr>
          <p:cNvSpPr>
            <a:spLocks noGrp="1"/>
          </p:cNvSpPr>
          <p:nvPr/>
        </p:nvSpPr>
        <p:spPr>
          <a:xfrm>
            <a:off x="9591675" y="2971800"/>
            <a:ext cx="276225" cy="171450"/>
          </a:xfrm>
          <a:prstGeom prst="rightArrow">
            <a:avLst/>
          </a:prstGeom>
          <a:solidFill>
            <a:srgbClr val="267A5A"/>
          </a:solidFill>
          <a:ln w="0">
            <a:noFill/>
            <a:prstDash val="solid"/>
          </a:ln>
        </p:spPr>
      </p:sp>
      <p:sp>
        <p:nvSpPr>
          <p:cNvPr id="23" name="flow-data-zh">
            <a:extLst>
              <a:ext uri="{FF2B5EF4-FFF2-40B4-BE49-F238E27FC236}">
                <a16:creationId xmlns:a16="http://schemas.microsoft.com/office/drawing/2014/main" id="{B33D9116-D495-4F96-8016-B160D6885099}"/>
              </a:ext>
            </a:extLst>
          </p:cNvPr>
          <p:cNvSpPr>
            <a:spLocks noGrp="1"/>
          </p:cNvSpPr>
          <p:nvPr/>
        </p:nvSpPr>
        <p:spPr>
          <a:xfrm>
            <a:off x="619125" y="4391025"/>
            <a:ext cx="1085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9 项可标记；排除 ready 与仅供参考项。</a:t>
            </a:r>
          </a:p>
        </p:txBody>
      </p:sp>
      <p:sp>
        <p:nvSpPr>
          <p:cNvPr id="24" name="flow-data-ko">
            <a:extLst>
              <a:ext uri="{FF2B5EF4-FFF2-40B4-BE49-F238E27FC236}">
                <a16:creationId xmlns:a16="http://schemas.microsoft.com/office/drawing/2014/main" id="{20D3F271-F5BC-40EF-A492-C43F33A08F5C}"/>
              </a:ext>
            </a:extLst>
          </p:cNvPr>
          <p:cNvSpPr>
            <a:spLocks noGrp="1"/>
          </p:cNvSpPr>
          <p:nvPr/>
        </p:nvSpPr>
        <p:spPr>
          <a:xfrm>
            <a:off x="619125" y="4733925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표시 가능한 9개 항목 중 완료 및 참고 전용 항목을 제외합니다.</a:t>
            </a:r>
          </a:p>
        </p:txBody>
      </p:sp>
      <p:sp>
        <p:nvSpPr>
          <p:cNvPr id="25" name="flow-rule-zh">
            <a:extLst>
              <a:ext uri="{FF2B5EF4-FFF2-40B4-BE49-F238E27FC236}">
                <a16:creationId xmlns:a16="http://schemas.microsoft.com/office/drawing/2014/main" id="{9C56F408-6E93-4D87-B285-71BF40E4944D}"/>
              </a:ext>
            </a:extLst>
          </p:cNvPr>
          <p:cNvSpPr>
            <a:spLocks noGrp="1"/>
          </p:cNvSpPr>
          <p:nvPr/>
        </p:nvSpPr>
        <p:spPr>
          <a:xfrm>
            <a:off x="619125" y="5162550"/>
            <a:ext cx="1085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阶段匹配优先，再按待确认/日期异常、待准备、未知排序；展示理由、行动和来源。</a:t>
            </a:r>
          </a:p>
        </p:txBody>
      </p:sp>
      <p:sp>
        <p:nvSpPr>
          <p:cNvPr id="26" name="flow-rule-ko">
            <a:extLst>
              <a:ext uri="{FF2B5EF4-FFF2-40B4-BE49-F238E27FC236}">
                <a16:creationId xmlns:a16="http://schemas.microsoft.com/office/drawing/2014/main" id="{F68FDABD-34EE-4337-B305-6BC4E81BB5BA}"/>
              </a:ext>
            </a:extLst>
          </p:cNvPr>
          <p:cNvSpPr>
            <a:spLocks noGrp="1"/>
          </p:cNvSpPr>
          <p:nvPr/>
        </p:nvSpPr>
        <p:spPr>
          <a:xfrm>
            <a:off x="619125" y="5524500"/>
            <a:ext cx="1085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2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현재 단계 우선, 이후 확인 필요/날짜 오류, 미준비, 미입력 순으로 정렬합니다. 이유·행동·출처를 표시합니다.</a:t>
            </a:r>
          </a:p>
        </p:txBody>
      </p:sp>
      <p:sp>
        <p:nvSpPr>
          <p:cNvPr id="27" name="flow-status-zh">
            <a:extLst>
              <a:ext uri="{FF2B5EF4-FFF2-40B4-BE49-F238E27FC236}">
                <a16:creationId xmlns:a16="http://schemas.microsoft.com/office/drawing/2014/main" id="{FB6E2F44-B928-4856-9B72-B0CC972993CE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8A47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8A47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A4739"/>
                </a:solidFill>
                <a:latin typeface="Microsoft YaHei"/>
                <a:ea typeface="Microsoft YaHei"/>
                <a:cs typeface="Microsoft YaHei"/>
              </a:rPr>
              <a:t>无候选：提示入住前复核所属馆最新公告。</a:t>
            </a:r>
          </a:p>
        </p:txBody>
      </p:sp>
      <p:sp>
        <p:nvSpPr>
          <p:cNvPr id="28" name="flow-status-ko">
            <a:extLst>
              <a:ext uri="{FF2B5EF4-FFF2-40B4-BE49-F238E27FC236}">
                <a16:creationId xmlns:a16="http://schemas.microsoft.com/office/drawing/2014/main" id="{4C746836-EF86-4D28-856A-8250D77F962A}"/>
              </a:ext>
            </a:extLst>
          </p:cNvPr>
          <p:cNvSpPr>
            <a:spLocks noGrp="1"/>
          </p:cNvSpPr>
          <p:nvPr/>
        </p:nvSpPr>
        <p:spPr>
          <a:xfrm>
            <a:off x="619125" y="6305550"/>
            <a:ext cx="1085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8A473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200" b="0">
                <a:solidFill>
                  <a:srgbClr val="8A473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4739"/>
                </a:solidFill>
                <a:latin typeface="Malgun Gothic"/>
                <a:ea typeface="Malgun Gothic"/>
                <a:cs typeface="Malgun Gothic"/>
              </a:rPr>
              <a:t>후보가 없으면 입사 전에 해당 생활관의 최신 공고를 다시 확인하도록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201584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zh-5">
            <a:extLst>
              <a:ext uri="{FF2B5EF4-FFF2-40B4-BE49-F238E27FC236}">
                <a16:creationId xmlns:a16="http://schemas.microsoft.com/office/drawing/2014/main" id="{40E566E9-159D-494E-96D5-54C5BBA4057D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两组实际运行结果</a:t>
            </a:r>
          </a:p>
        </p:txBody>
      </p:sp>
      <p:sp>
        <p:nvSpPr>
          <p:cNvPr id="2" name="title-ko-5">
            <a:extLst>
              <a:ext uri="{FF2B5EF4-FFF2-40B4-BE49-F238E27FC236}">
                <a16:creationId xmlns:a16="http://schemas.microsoft.com/office/drawing/2014/main" id="{EF212354-EB6E-4E35-A104-A4BB6E17BD90}"/>
              </a:ext>
            </a:extLst>
          </p:cNvPr>
          <p:cNvSpPr>
            <a:spLocks noGrp="1"/>
          </p:cNvSpPr>
          <p:nvPr/>
        </p:nvSpPr>
        <p:spPr>
          <a:xfrm>
            <a:off x="628650" y="1028700"/>
            <a:ext cx="10953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두 상황의 실제 실행 결과</a:t>
            </a:r>
          </a:p>
        </p:txBody>
      </p:sp>
      <p:sp>
        <p:nvSpPr>
          <p:cNvPr id="3" name="number-5">
            <a:extLst>
              <a:ext uri="{FF2B5EF4-FFF2-40B4-BE49-F238E27FC236}">
                <a16:creationId xmlns:a16="http://schemas.microsoft.com/office/drawing/2014/main" id="{CE5694E9-1EE7-4B2F-BD18-2698A3EAB7BA}"/>
              </a:ext>
            </a:extLst>
          </p:cNvPr>
          <p:cNvSpPr>
            <a:spLocks noGrp="1"/>
          </p:cNvSpPr>
          <p:nvPr/>
        </p:nvSpPr>
        <p:spPr>
          <a:xfrm>
            <a:off x="11201400" y="63150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r">
              <a:def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case-a-zh">
            <a:extLst>
              <a:ext uri="{FF2B5EF4-FFF2-40B4-BE49-F238E27FC236}">
                <a16:creationId xmlns:a16="http://schemas.microsoft.com/office/drawing/2014/main" id="{D6DCAD47-A4AB-4C03-B5F9-321439B5FAA9}"/>
              </a:ext>
            </a:extLst>
          </p:cNvPr>
          <p:cNvSpPr>
            <a:spLocks noGrp="1"/>
          </p:cNvSpPr>
          <p:nvPr/>
        </p:nvSpPr>
        <p:spPr>
          <a:xfrm>
            <a:off x="619125" y="1533525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A：一般流程</a:t>
            </a:r>
          </a:p>
        </p:txBody>
      </p:sp>
      <p:sp>
        <p:nvSpPr>
          <p:cNvPr id="5" name="case-a-ko">
            <a:extLst>
              <a:ext uri="{FF2B5EF4-FFF2-40B4-BE49-F238E27FC236}">
                <a16:creationId xmlns:a16="http://schemas.microsoft.com/office/drawing/2014/main" id="{CBFC9297-F048-4E9B-8549-AAE34191EEFA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A: 일반 절차</a:t>
            </a:r>
          </a:p>
        </p:txBody>
      </p:sp>
      <p:sp>
        <p:nvSpPr>
          <p:cNvPr id="6" name="a-input-zh">
            <a:extLst>
              <a:ext uri="{FF2B5EF4-FFF2-40B4-BE49-F238E27FC236}">
                <a16:creationId xmlns:a16="http://schemas.microsoft.com/office/drawing/2014/main" id="{3DF0F0F7-BFBD-4A90-9D1E-2F7968B4013C}"/>
              </a:ext>
            </a:extLst>
          </p:cNvPr>
          <p:cNvSpPr>
            <a:spLocks noGrp="1"/>
          </p:cNvSpPr>
          <p:nvPr/>
        </p:nvSpPr>
        <p:spPr>
          <a:xfrm>
            <a:off x="619125" y="2362200"/>
            <a:ext cx="4905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输入：11月1日入住；两项材料已准备。</a:t>
            </a:r>
          </a:p>
          <a:p>
            <a:pPr algn="l">
              <a:def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床品、洗护待准备；网络未填写。</a:t>
            </a:r>
          </a:p>
        </p:txBody>
      </p:sp>
      <p:sp>
        <p:nvSpPr>
          <p:cNvPr id="7" name="a-input-ko">
            <a:extLst>
              <a:ext uri="{FF2B5EF4-FFF2-40B4-BE49-F238E27FC236}">
                <a16:creationId xmlns:a16="http://schemas.microsoft.com/office/drawing/2014/main" id="{4ABCFE7C-5F28-47AA-8FD3-44F610F61ECB}"/>
              </a:ext>
            </a:extLst>
          </p:cNvPr>
          <p:cNvSpPr>
            <a:spLocks noGrp="1"/>
          </p:cNvSpPr>
          <p:nvPr/>
        </p:nvSpPr>
        <p:spPr>
          <a:xfrm>
            <a:off x="619125" y="3162300"/>
            <a:ext cx="49053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입력: 11월 1일 입사, 서류 2개 준비 완료.</a:t>
            </a:r>
          </a:p>
          <a:p>
            <a: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침구·세탁용품 미준비, 인터넷용품 미입력.</a:t>
            </a:r>
          </a:p>
        </p:txBody>
      </p:sp>
      <p:sp>
        <p:nvSpPr>
          <p:cNvPr id="8" name="a-result-zh">
            <a:extLst>
              <a:ext uri="{FF2B5EF4-FFF2-40B4-BE49-F238E27FC236}">
                <a16:creationId xmlns:a16="http://schemas.microsoft.com/office/drawing/2014/main" id="{83D1BBE8-F418-4DE9-A8BA-59DDDF317A1A}"/>
              </a:ext>
            </a:extLst>
          </p:cNvPr>
          <p:cNvSpPr>
            <a:spLocks noGrp="1"/>
          </p:cNvSpPr>
          <p:nvPr/>
        </p:nvSpPr>
        <p:spPr>
          <a:xfrm>
            <a:off x="619125" y="3943350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Top 3：①床品  ②洗护  ③网络</a:t>
            </a:r>
          </a:p>
        </p:txBody>
      </p:sp>
      <p:sp>
        <p:nvSpPr>
          <p:cNvPr id="9" name="a-result-ko">
            <a:extLst>
              <a:ext uri="{FF2B5EF4-FFF2-40B4-BE49-F238E27FC236}">
                <a16:creationId xmlns:a16="http://schemas.microsoft.com/office/drawing/2014/main" id="{26802566-483B-4A0A-8701-40B3D2E15027}"/>
              </a:ext>
            </a:extLst>
          </p:cNvPr>
          <p:cNvSpPr>
            <a:spLocks noGrp="1"/>
          </p:cNvSpPr>
          <p:nvPr/>
        </p:nvSpPr>
        <p:spPr>
          <a:xfrm>
            <a:off x="619125" y="4333875"/>
            <a:ext cx="4905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상위 3개: ①침구  ②세탁용품  ③인터넷용품</a:t>
            </a:r>
          </a:p>
        </p:txBody>
      </p:sp>
      <p:sp>
        <p:nvSpPr>
          <p:cNvPr id="10" name="case-b-zh">
            <a:extLst>
              <a:ext uri="{FF2B5EF4-FFF2-40B4-BE49-F238E27FC236}">
                <a16:creationId xmlns:a16="http://schemas.microsoft.com/office/drawing/2014/main" id="{4B48C3F3-EC5D-4EB1-9D9C-C9721BB8C45B}"/>
              </a:ext>
            </a:extLst>
          </p:cNvPr>
          <p:cNvSpPr>
            <a:spLocks noGrp="1"/>
          </p:cNvSpPr>
          <p:nvPr/>
        </p:nvSpPr>
        <p:spPr>
          <a:xfrm>
            <a:off x="6191250" y="1533525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B：留学生</a:t>
            </a:r>
          </a:p>
        </p:txBody>
      </p:sp>
      <p:sp>
        <p:nvSpPr>
          <p:cNvPr id="11" name="case-b-ko">
            <a:extLst>
              <a:ext uri="{FF2B5EF4-FFF2-40B4-BE49-F238E27FC236}">
                <a16:creationId xmlns:a16="http://schemas.microsoft.com/office/drawing/2014/main" id="{327F0FAB-35EC-45ED-9409-1151E74C2427}"/>
              </a:ext>
            </a:extLst>
          </p:cNvPr>
          <p:cNvSpPr>
            <a:spLocks noGrp="1"/>
          </p:cNvSpPr>
          <p:nvPr/>
        </p:nvSpPr>
        <p:spPr>
          <a:xfrm>
            <a:off x="6191250" y="194310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B: 유학생</a:t>
            </a:r>
          </a:p>
        </p:txBody>
      </p:sp>
      <p:sp>
        <p:nvSpPr>
          <p:cNvPr id="12" name="b-input-zh">
            <a:extLst>
              <a:ext uri="{FF2B5EF4-FFF2-40B4-BE49-F238E27FC236}">
                <a16:creationId xmlns:a16="http://schemas.microsoft.com/office/drawing/2014/main" id="{B5A11280-966F-45C1-9C07-A570C018783F}"/>
              </a:ext>
            </a:extLst>
          </p:cNvPr>
          <p:cNvSpPr>
            <a:spLocks noGrp="1"/>
          </p:cNvSpPr>
          <p:nvPr/>
        </p:nvSpPr>
        <p:spPr>
          <a:xfrm>
            <a:off x="6191250" y="2362200"/>
            <a:ext cx="4905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输入：同一入住日；两项材料自报已准备。</a:t>
            </a:r>
          </a:p>
          <a:p>
            <a:pPr algn="l">
              <a:def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公告阅读待准备，其余已准备。</a:t>
            </a:r>
          </a:p>
        </p:txBody>
      </p:sp>
      <p:sp>
        <p:nvSpPr>
          <p:cNvPr id="13" name="b-input-ko">
            <a:extLst>
              <a:ext uri="{FF2B5EF4-FFF2-40B4-BE49-F238E27FC236}">
                <a16:creationId xmlns:a16="http://schemas.microsoft.com/office/drawing/2014/main" id="{B2693577-4262-465D-9BDE-A33914CD14E2}"/>
              </a:ext>
            </a:extLst>
          </p:cNvPr>
          <p:cNvSpPr>
            <a:spLocks noGrp="1"/>
          </p:cNvSpPr>
          <p:nvPr/>
        </p:nvSpPr>
        <p:spPr>
          <a:xfrm>
            <a:off x="6191250" y="3162300"/>
            <a:ext cx="49053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입력: 같은 입사일, 서류 2개 준비 완료 표시.</a:t>
            </a:r>
          </a:p>
          <a:p>
            <a: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공고 확인 미준비, 다른 항목 준비 완료.</a:t>
            </a:r>
          </a:p>
        </p:txBody>
      </p:sp>
      <p:sp>
        <p:nvSpPr>
          <p:cNvPr id="14" name="b-result-zh">
            <a:extLst>
              <a:ext uri="{FF2B5EF4-FFF2-40B4-BE49-F238E27FC236}">
                <a16:creationId xmlns:a16="http://schemas.microsoft.com/office/drawing/2014/main" id="{643EFF17-386F-4E17-8A78-025453C1D2C4}"/>
              </a:ext>
            </a:extLst>
          </p:cNvPr>
          <p:cNvSpPr>
            <a:spLocks noGrp="1"/>
          </p:cNvSpPr>
          <p:nvPr/>
        </p:nvSpPr>
        <p:spPr>
          <a:xfrm>
            <a:off x="6191250" y="3943350"/>
            <a:ext cx="490537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Top 3：①结核证明  ②居民登记誊本</a:t>
            </a:r>
          </a:p>
          <a:p>
            <a:pPr algn="l">
              <a:defRPr sz="16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          ③阅读最新公告</a:t>
            </a:r>
          </a:p>
        </p:txBody>
      </p:sp>
      <p:sp>
        <p:nvSpPr>
          <p:cNvPr id="15" name="b-result-ko">
            <a:extLst>
              <a:ext uri="{FF2B5EF4-FFF2-40B4-BE49-F238E27FC236}">
                <a16:creationId xmlns:a16="http://schemas.microsoft.com/office/drawing/2014/main" id="{40944A8A-0709-4339-AB0F-5D4716AAA8B1}"/>
              </a:ext>
            </a:extLst>
          </p:cNvPr>
          <p:cNvSpPr>
            <a:spLocks noGrp="1"/>
          </p:cNvSpPr>
          <p:nvPr/>
        </p:nvSpPr>
        <p:spPr>
          <a:xfrm>
            <a:off x="6191250" y="4695825"/>
            <a:ext cx="4905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상위 3개: ①결핵검진 확인서  ②주민등록등본</a:t>
            </a:r>
          </a:p>
          <a:p>
            <a:pPr algn="l">
              <a:def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                 ③공고 확인</a:t>
            </a:r>
          </a:p>
        </p:txBody>
      </p:sp>
      <p:sp>
        <p:nvSpPr>
          <p:cNvPr id="16" name="scenario-diff-zh">
            <a:extLst>
              <a:ext uri="{FF2B5EF4-FFF2-40B4-BE49-F238E27FC236}">
                <a16:creationId xmlns:a16="http://schemas.microsoft.com/office/drawing/2014/main" id="{FE105F54-DC1B-4A1A-BB98-43578007CA4D}"/>
              </a:ext>
            </a:extLst>
          </p:cNvPr>
          <p:cNvSpPr>
            <a:spLocks noGrp="1"/>
          </p:cNvSpPr>
          <p:nvPr/>
        </p:nvSpPr>
        <p:spPr>
          <a:xfrm>
            <a:off x="619125" y="5372100"/>
            <a:ext cx="1062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A47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8A47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A4739"/>
                </a:solidFill>
                <a:latin typeface="Microsoft YaHei"/>
                <a:ea typeface="Microsoft YaHei"/>
                <a:cs typeface="Microsoft YaHei"/>
              </a:rPr>
              <a:t>差异来自身份与准备状态；留学生两项材料需核实。语言切换不改变排序。</a:t>
            </a:r>
          </a:p>
        </p:txBody>
      </p:sp>
      <p:sp>
        <p:nvSpPr>
          <p:cNvPr id="17" name="scenario-diff-ko">
            <a:extLst>
              <a:ext uri="{FF2B5EF4-FFF2-40B4-BE49-F238E27FC236}">
                <a16:creationId xmlns:a16="http://schemas.microsoft.com/office/drawing/2014/main" id="{CEB61B12-D729-48E8-B137-97084FF34E8C}"/>
              </a:ext>
            </a:extLst>
          </p:cNvPr>
          <p:cNvSpPr>
            <a:spLocks noGrp="1"/>
          </p:cNvSpPr>
          <p:nvPr/>
        </p:nvSpPr>
        <p:spPr>
          <a:xfrm>
            <a:off x="619125" y="5753100"/>
            <a:ext cx="106203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8A473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350" b="0">
                <a:solidFill>
                  <a:srgbClr val="8A473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8A4739"/>
                </a:solidFill>
                <a:latin typeface="Malgun Gothic"/>
                <a:ea typeface="Malgun Gothic"/>
                <a:cs typeface="Malgun Gothic"/>
              </a:rPr>
              <a:t>적용 대상과 준비 상태가 순서를 바꿉니다. 유학생 서류는 확인이 필요하며 언어 전환은 순서를 바꾸지 않습니다.</a:t>
            </a:r>
          </a:p>
        </p:txBody>
      </p:sp>
      <p:sp>
        <p:nvSpPr>
          <p:cNvPr id="18" name="scenario-method">
            <a:extLst>
              <a:ext uri="{FF2B5EF4-FFF2-40B4-BE49-F238E27FC236}">
                <a16:creationId xmlns:a16="http://schemas.microsoft.com/office/drawing/2014/main" id="{AC4DDF6F-B60B-4A85-87D0-84464CDE5F1A}"/>
              </a:ext>
            </a:extLst>
          </p:cNvPr>
          <p:cNvSpPr>
            <a:spLocks noGrp="1"/>
          </p:cNvSpPr>
          <p:nvPr/>
        </p:nvSpPr>
        <p:spPr>
          <a:xfrm>
            <a:off x="619125" y="6229350"/>
            <a:ext cx="10620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F74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F7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46A"/>
                </a:solidFill>
                <a:latin typeface="Microsoft YaHei"/>
                <a:ea typeface="Microsoft YaHei"/>
                <a:cs typeface="Microsoft YaHei"/>
              </a:rPr>
              <a:t>2026-10-08  合成输入  ·  core.check() 确定性运行  ·  非真实用户或 Qwen 输出</a:t>
            </a:r>
          </a:p>
        </p:txBody>
      </p:sp>
    </p:spTree>
    <p:extLst>
      <p:ext uri="{BB962C8B-B14F-4D97-AF65-F5344CB8AC3E}">
        <p14:creationId xmlns:p14="http://schemas.microsoft.com/office/powerpoint/2010/main" val="181721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zh-6">
            <a:extLst>
              <a:ext uri="{FF2B5EF4-FFF2-40B4-BE49-F238E27FC236}">
                <a16:creationId xmlns:a16="http://schemas.microsoft.com/office/drawing/2014/main" id="{BF128A81-C867-4758-8F42-F5934CDA233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运行视频与复现方式</a:t>
            </a:r>
          </a:p>
        </p:txBody>
      </p:sp>
      <p:sp>
        <p:nvSpPr>
          <p:cNvPr id="2" name="title-ko-6">
            <a:extLst>
              <a:ext uri="{FF2B5EF4-FFF2-40B4-BE49-F238E27FC236}">
                <a16:creationId xmlns:a16="http://schemas.microsoft.com/office/drawing/2014/main" id="{D54BBB42-619E-4F48-AFFC-9F1CED11FAAF}"/>
              </a:ext>
            </a:extLst>
          </p:cNvPr>
          <p:cNvSpPr>
            <a:spLocks noGrp="1"/>
          </p:cNvSpPr>
          <p:nvPr/>
        </p:nvSpPr>
        <p:spPr>
          <a:xfrm>
            <a:off x="628650" y="1028700"/>
            <a:ext cx="10953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실행 영상과 재현 방법</a:t>
            </a:r>
          </a:p>
        </p:txBody>
      </p:sp>
      <p:sp>
        <p:nvSpPr>
          <p:cNvPr id="3" name="number-6">
            <a:extLst>
              <a:ext uri="{FF2B5EF4-FFF2-40B4-BE49-F238E27FC236}">
                <a16:creationId xmlns:a16="http://schemas.microsoft.com/office/drawing/2014/main" id="{0EBD2EB6-3CDF-4F3B-A590-0A927C16CA8C}"/>
              </a:ext>
            </a:extLst>
          </p:cNvPr>
          <p:cNvSpPr>
            <a:spLocks noGrp="1"/>
          </p:cNvSpPr>
          <p:nvPr/>
        </p:nvSpPr>
        <p:spPr>
          <a:xfrm>
            <a:off x="11201400" y="63150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r">
              <a:def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demo-title-zh">
            <a:extLst>
              <a:ext uri="{FF2B5EF4-FFF2-40B4-BE49-F238E27FC236}">
                <a16:creationId xmlns:a16="http://schemas.microsoft.com/office/drawing/2014/main" id="{16D608BE-E403-413B-B4D1-99C867341511}"/>
              </a:ext>
            </a:extLst>
          </p:cNvPr>
          <p:cNvSpPr>
            <a:spLocks noGrp="1"/>
          </p:cNvSpPr>
          <p:nvPr/>
        </p:nvSpPr>
        <p:spPr>
          <a:xfrm>
            <a:off x="619125" y="1714500"/>
            <a:ext cx="485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3D32"/>
                </a:solidFill>
                <a:latin typeface="Microsoft YaHei"/>
                <a:ea typeface="Microsoft YaHei"/>
                <a:cs typeface="Microsoft YaHei"/>
              </a:rPr>
              <a:t>视频展示内容</a:t>
            </a:r>
          </a:p>
        </p:txBody>
      </p:sp>
      <p:sp>
        <p:nvSpPr>
          <p:cNvPr id="5" name="demo-title-ko">
            <a:extLst>
              <a:ext uri="{FF2B5EF4-FFF2-40B4-BE49-F238E27FC236}">
                <a16:creationId xmlns:a16="http://schemas.microsoft.com/office/drawing/2014/main" id="{25C9D7F2-8EB8-40B9-BCEA-05EC1B48D095}"/>
              </a:ext>
            </a:extLst>
          </p:cNvPr>
          <p:cNvSpPr>
            <a:spLocks noGrp="1"/>
          </p:cNvSpPr>
          <p:nvPr/>
        </p:nvSpPr>
        <p:spPr>
          <a:xfrm>
            <a:off x="619125" y="2238375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8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영상 시연 내용</a:t>
            </a:r>
          </a:p>
        </p:txBody>
      </p:sp>
      <p:sp>
        <p:nvSpPr>
          <p:cNvPr id="6" name="demo-seq-zh">
            <a:extLst>
              <a:ext uri="{FF2B5EF4-FFF2-40B4-BE49-F238E27FC236}">
                <a16:creationId xmlns:a16="http://schemas.microsoft.com/office/drawing/2014/main" id="{60DF1BD1-BE18-4475-AE44-EB67561229C4}"/>
              </a:ext>
            </a:extLst>
          </p:cNvPr>
          <p:cNvSpPr>
            <a:spLocks noGrp="1"/>
          </p:cNvSpPr>
          <p:nvPr/>
        </p:nvSpPr>
        <p:spPr>
          <a:xfrm>
            <a:off x="619125" y="3057525"/>
            <a:ext cx="4857750" cy="1438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中文与韩语切换</a:t>
            </a:r>
          </a:p>
          <a:p>
            <a:pPr algn="l">
              <a:defRPr sz="195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情境 A、B 的实际结果</a:t>
            </a:r>
          </a:p>
          <a:p>
            <a:pPr algn="l">
              <a:defRPr sz="195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推荐理由、来源与回退</a:t>
            </a:r>
          </a:p>
        </p:txBody>
      </p:sp>
      <p:sp>
        <p:nvSpPr>
          <p:cNvPr id="7" name="demo-seq-ko">
            <a:extLst>
              <a:ext uri="{FF2B5EF4-FFF2-40B4-BE49-F238E27FC236}">
                <a16:creationId xmlns:a16="http://schemas.microsoft.com/office/drawing/2014/main" id="{DCEB41A2-48CD-4423-93FD-39579D79A32E}"/>
              </a:ext>
            </a:extLst>
          </p:cNvPr>
          <p:cNvSpPr>
            <a:spLocks noGrp="1"/>
          </p:cNvSpPr>
          <p:nvPr/>
        </p:nvSpPr>
        <p:spPr>
          <a:xfrm>
            <a:off x="619125" y="4562475"/>
            <a:ext cx="4857750" cy="1228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중국어·한국어 전환</a:t>
            </a:r>
          </a:p>
          <a:p>
            <a:pPr algn="l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상황 A·B의 실제 결과</a:t>
            </a:r>
          </a:p>
          <a:p>
            <a:pPr algn="l">
              <a:def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추천 이유·출처·예외 처리</a:t>
            </a:r>
          </a:p>
        </p:txBody>
      </p:sp>
      <p:sp>
        <p:nvSpPr>
          <p:cNvPr id="10" name="run-zh">
            <a:extLst>
              <a:ext uri="{FF2B5EF4-FFF2-40B4-BE49-F238E27FC236}">
                <a16:creationId xmlns:a16="http://schemas.microsoft.com/office/drawing/2014/main" id="{A9F15699-AB75-41D2-9DB8-78149BB94EB6}"/>
              </a:ext>
            </a:extLst>
          </p:cNvPr>
          <p:cNvSpPr>
            <a:spLocks noGrp="1"/>
          </p:cNvSpPr>
          <p:nvPr/>
        </p:nvSpPr>
        <p:spPr>
          <a:xfrm>
            <a:off x="619125" y="6000750"/>
            <a:ext cx="1057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C35"/>
                </a:solidFill>
                <a:latin typeface="Microsoft YaHei"/>
                <a:ea typeface="Microsoft YaHei"/>
                <a:cs typeface="Microsoft YaHei"/>
              </a:rPr>
              <a:t>运行：Start.cmd，打开 http://127.0.0.1:8765</a:t>
            </a:r>
          </a:p>
        </p:txBody>
      </p:sp>
      <p:sp>
        <p:nvSpPr>
          <p:cNvPr id="11" name="run-ko">
            <a:extLst>
              <a:ext uri="{FF2B5EF4-FFF2-40B4-BE49-F238E27FC236}">
                <a16:creationId xmlns:a16="http://schemas.microsoft.com/office/drawing/2014/main" id="{F001826F-8CF3-4A67-A7CE-F611C64883EA}"/>
              </a:ext>
            </a:extLst>
          </p:cNvPr>
          <p:cNvSpPr>
            <a:spLocks noGrp="1"/>
          </p:cNvSpPr>
          <p:nvPr/>
        </p:nvSpPr>
        <p:spPr>
          <a:xfrm>
            <a:off x="619125" y="6267450"/>
            <a:ext cx="1057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2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746A"/>
                </a:solidFill>
                <a:latin typeface="Malgun Gothic"/>
                <a:ea typeface="Malgun Gothic"/>
                <a:cs typeface="Malgun Gothic"/>
              </a:rPr>
              <a:t>실행: Start.cmd 후 http://127.0.0.1:8765 접속</a:t>
            </a:r>
          </a:p>
        </p:txBody>
      </p:sp>
      <p:pic>
        <p:nvPicPr>
          <p:cNvPr id="13" name="week05_demo_video">
            <a:hlinkClick action="ppaction://media"/>
            <a:extLst>
              <a:ext uri="{FF2B5EF4-FFF2-40B4-BE49-F238E27FC236}">
                <a16:creationId xmlns:a16="http://schemas.microsoft.com/office/drawing/2014/main" id="{4071AEE4-0729-61FB-F86E-CBD5F15F11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191250" y="1905001"/>
            <a:ext cx="5238044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3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891</Words>
  <Application>Microsoft Office PowerPoint</Application>
  <DocSecurity>0</DocSecurity>
  <PresentationFormat>宽屏</PresentationFormat>
  <Paragraphs>99</Paragraphs>
  <Slides>6</Slides>
  <Notes>6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Malgun Gothic</vt:lpstr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LR ChenMeng</cp:lastModifiedBy>
  <cp:revision>1</cp:revision>
  <dcterms:created xsi:type="dcterms:W3CDTF">2026-10-07T16:42:58Z</dcterms:created>
  <dcterms:modified xsi:type="dcterms:W3CDTF">2026-10-07T16:43:17Z</dcterms:modified>
</cp:coreProperties>
</file>